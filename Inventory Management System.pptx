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1"/>
  </p:notesMasterIdLst>
  <p:handoutMasterIdLst>
    <p:handoutMasterId r:id="rId22"/>
  </p:handoutMasterIdLst>
  <p:sldIdLst>
    <p:sldId id="256" r:id="rId5"/>
    <p:sldId id="258" r:id="rId6"/>
    <p:sldId id="286" r:id="rId7"/>
    <p:sldId id="287" r:id="rId8"/>
    <p:sldId id="262" r:id="rId9"/>
    <p:sldId id="261" r:id="rId10"/>
    <p:sldId id="288" r:id="rId11"/>
    <p:sldId id="289" r:id="rId12"/>
    <p:sldId id="291" r:id="rId13"/>
    <p:sldId id="292" r:id="rId14"/>
    <p:sldId id="293" r:id="rId15"/>
    <p:sldId id="294" r:id="rId16"/>
    <p:sldId id="295" r:id="rId17"/>
    <p:sldId id="298" r:id="rId18"/>
    <p:sldId id="297" r:id="rId19"/>
    <p:sldId id="2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0" d="100"/>
          <a:sy n="80" d="100"/>
        </p:scale>
        <p:origin x="60" y="160"/>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5/21/2026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5/21/2026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smtClean="0"/>
              <a:t>Click to edit Master subtitle style</a:t>
            </a:r>
            <a:endParaRPr lang="en-US" noProof="0"/>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smtClean="0"/>
              <a:t>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a:p>
            <a:pPr lvl="1"/>
            <a:r>
              <a:rPr lang="en-US" noProof="0" smtClean="0"/>
              <a:t>Second level</a:t>
            </a:r>
          </a:p>
          <a:p>
            <a:pPr lvl="2"/>
            <a:r>
              <a:rPr lang="en-US" noProof="0" smtClean="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smtClean="0"/>
              <a:t>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smtClean="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smtClean="0"/>
              <a:t>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smtClean="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smtClean="0"/>
              <a:t>Click to edit Master title style</a:t>
            </a:r>
            <a:endParaRPr lang="en-US" noProof="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smtClean="0"/>
              <a:t>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smtClean="0"/>
              <a:t>Click to edit Master title style</a:t>
            </a:r>
            <a:endParaRPr lang="en-US" noProof="0"/>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3.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GB" sz="5000" dirty="0">
                <a:latin typeface="Times New Roman" panose="02020603050405020304" pitchFamily="18" charset="0"/>
                <a:cs typeface="Times New Roman" panose="02020603050405020304" pitchFamily="18" charset="0"/>
              </a:rPr>
              <a:t>Inventory Management </a:t>
            </a:r>
            <a:r>
              <a:rPr lang="en-GB" sz="5000" dirty="0" smtClean="0">
                <a:latin typeface="Times New Roman" panose="02020603050405020304" pitchFamily="18" charset="0"/>
                <a:cs typeface="Times New Roman" panose="02020603050405020304" pitchFamily="18" charset="0"/>
              </a:rPr>
              <a:t>System</a:t>
            </a:r>
            <a:endParaRPr lang="en-US" sz="5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normAutofit fontScale="85000" lnSpcReduction="20000"/>
          </a:bodyPr>
          <a:lstStyle/>
          <a:p>
            <a:pPr marL="0" indent="0">
              <a:buNone/>
            </a:pPr>
            <a:r>
              <a:rPr lang="en-US" dirty="0" smtClean="0">
                <a:latin typeface="Times New Roman" panose="02020603050405020304" pitchFamily="18" charset="0"/>
                <a:cs typeface="Times New Roman" panose="02020603050405020304" pitchFamily="18" charset="0"/>
              </a:rPr>
              <a:t>Presented by :</a:t>
            </a:r>
          </a:p>
          <a:p>
            <a:pPr marL="0" indent="0">
              <a:buNone/>
            </a:pP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Muhammad </a:t>
            </a:r>
            <a:r>
              <a:rPr lang="en-US" dirty="0" err="1" smtClean="0">
                <a:latin typeface="Times New Roman" panose="02020603050405020304" pitchFamily="18" charset="0"/>
                <a:cs typeface="Times New Roman" panose="02020603050405020304" pitchFamily="18" charset="0"/>
              </a:rPr>
              <a:t>Danyal</a:t>
            </a:r>
            <a:endParaRPr lang="en-US" dirty="0" smtClean="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r>
              <a:rPr lang="en-US" smtClean="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6934594"/>
      </p:ext>
    </p:extLst>
  </p:cSld>
  <p:clrMapOvr>
    <a:masterClrMapping/>
  </p:clrMapOvr>
  <p:transition spd="slow">
    <p:wip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GB" dirty="0"/>
              <a:t>Introduction</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pPr algn="just"/>
            <a:r>
              <a:rPr lang="en-GB" dirty="0"/>
              <a:t>Inventory management is an essential process for businesses to organize, monitor, and control their stock efficiently. Managing inventory manually can lead to errors such as duplicate records, inaccurate stock calculations, and time-consuming operations. To solve these challenges, this Inventory Management System was developed in C++ using Object-Oriented Programming concepts. The system allows users to add, search, update, delete, and sort product records while also calculating the total inventory value. By automating these tasks, the project improves accuracy, saves time, and provides a structured way to manage inventory data effectively.</a:t>
            </a:r>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GB" dirty="0"/>
              <a:t>Problem Statement</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GB" dirty="0"/>
              <a:t>Manual Records – Writing inventory by hand is slow and inefficient.</a:t>
            </a:r>
          </a:p>
          <a:p>
            <a:r>
              <a:rPr lang="en-GB" dirty="0"/>
              <a:t>Duplicate Data – Same product can accidentally be entered multiple times.</a:t>
            </a:r>
          </a:p>
          <a:p>
            <a:r>
              <a:rPr lang="en-GB" dirty="0"/>
              <a:t>Calculation Errors – Humans may miscalculate stock values and totals.</a:t>
            </a:r>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691031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GB" dirty="0"/>
              <a:t>Project Objectives</a:t>
            </a:r>
            <a:endParaRPr lang="en-US"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GB" b="1" dirty="0"/>
              <a:t>Add Product</a:t>
            </a:r>
            <a:r>
              <a:rPr lang="en-GB" dirty="0"/>
              <a:t> – Allows user to insert a new product into inventory. </a:t>
            </a:r>
          </a:p>
          <a:p>
            <a:r>
              <a:rPr lang="en-GB" b="1" dirty="0"/>
              <a:t>Search Product</a:t>
            </a:r>
            <a:r>
              <a:rPr lang="en-GB" dirty="0"/>
              <a:t> – Finds product quickly using product ID. </a:t>
            </a:r>
          </a:p>
          <a:p>
            <a:r>
              <a:rPr lang="en-GB" b="1" dirty="0"/>
              <a:t>Update Product</a:t>
            </a:r>
            <a:r>
              <a:rPr lang="en-GB" dirty="0"/>
              <a:t> – Modifies quantity when stock changes. </a:t>
            </a:r>
          </a:p>
          <a:p>
            <a:r>
              <a:rPr lang="en-GB" b="1" dirty="0"/>
              <a:t>Delete Product</a:t>
            </a:r>
            <a:r>
              <a:rPr lang="en-GB" dirty="0"/>
              <a:t> – Removes unavailable or discontinued products. </a:t>
            </a:r>
          </a:p>
          <a:p>
            <a:r>
              <a:rPr lang="en-GB" b="1" dirty="0"/>
              <a:t>Sort Products</a:t>
            </a:r>
            <a:r>
              <a:rPr lang="en-GB" dirty="0"/>
              <a:t> – Organizes data for better readability. </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2793802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GB" dirty="0"/>
              <a:t>System Capabilities</a:t>
            </a:r>
            <a:endParaRPr lang="en-US" dirty="0"/>
          </a:p>
        </p:txBody>
      </p:sp>
      <p:pic>
        <p:nvPicPr>
          <p:cNvPr id="25" name="Picture Placeholder 24" descr="Bar chart">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2">
            <a:extLst>
              <a:ext uri="{28A0092B-C50C-407E-A947-70E740481C1C}">
                <a14:useLocalDpi xmlns:a14="http://schemas.microsoft.com/office/drawing/2010/main"/>
              </a:ext>
              <a:ext uri="{96DAC541-7B7A-43D3-8B79-37D633B846F1}">
                <asvg:svgBlip xmlns="" xmlns:asvg="http://schemas.microsoft.com/office/drawing/2016/SVG/main" r:embed="rId3"/>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GB" b="1" dirty="0"/>
              <a:t>Data Management</a:t>
            </a:r>
          </a:p>
          <a:p>
            <a:r>
              <a:rPr lang="en-GB" dirty="0"/>
              <a:t>Stores and organizes product records efficiently.</a:t>
            </a:r>
          </a:p>
        </p:txBody>
      </p:sp>
      <p:pic>
        <p:nvPicPr>
          <p:cNvPr id="27" name="Picture Placeholder 26" descr="Clock">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4">
            <a:extLst>
              <a:ext uri="{28A0092B-C50C-407E-A947-70E740481C1C}">
                <a14:useLocalDpi xmlns:a14="http://schemas.microsoft.com/office/drawing/2010/main"/>
              </a:ext>
              <a:ext uri="{96DAC541-7B7A-43D3-8B79-37D633B846F1}">
                <asvg:svgBlip xmlns="" xmlns:asvg="http://schemas.microsoft.com/office/drawing/2016/SVG/main" r:embed="rId5"/>
              </a:ext>
            </a:extLst>
          </a:blip>
          <a:srcRect/>
          <a:stretch>
            <a:fillRect/>
          </a:stretch>
        </p:blipFill>
        <p:spPr/>
      </p:pic>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GB" b="1" dirty="0"/>
              <a:t>Time Efficiency</a:t>
            </a:r>
          </a:p>
          <a:p>
            <a:r>
              <a:rPr lang="en-GB" dirty="0"/>
              <a:t>Reduces time spent on manual inventory tracking.</a:t>
            </a:r>
          </a:p>
        </p:txBody>
      </p:sp>
      <p:pic>
        <p:nvPicPr>
          <p:cNvPr id="29" name="Picture Placeholder 28" descr="Microscope">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6">
            <a:extLst>
              <a:ext uri="{28A0092B-C50C-407E-A947-70E740481C1C}">
                <a14:useLocalDpi xmlns:a14="http://schemas.microsoft.com/office/drawing/2010/main"/>
              </a:ext>
              <a:ext uri="{96DAC541-7B7A-43D3-8B79-37D633B846F1}">
                <asvg:svgBlip xmlns="" xmlns:asvg="http://schemas.microsoft.com/office/drawing/2016/SVG/main" r:embed="rId7"/>
              </a:ext>
            </a:extLst>
          </a:blip>
          <a:srcRect t="63" b="63"/>
          <a:stretch>
            <a:fillRect/>
          </a:stretch>
        </p:blipFill>
        <p:spPr/>
      </p:pic>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GB" b="1" dirty="0"/>
              <a:t>Accuracy Check</a:t>
            </a:r>
          </a:p>
          <a:p>
            <a:r>
              <a:rPr lang="en-GB" dirty="0"/>
              <a:t>Ensures correct calculations and validation.</a:t>
            </a:r>
          </a:p>
        </p:txBody>
      </p:sp>
      <p:pic>
        <p:nvPicPr>
          <p:cNvPr id="31" name="Picture Placeholder 30" descr="Magnifying glass">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8">
            <a:extLst>
              <a:ext uri="{28A0092B-C50C-407E-A947-70E740481C1C}">
                <a14:useLocalDpi xmlns:a14="http://schemas.microsoft.com/office/drawing/2010/main"/>
              </a:ext>
              <a:ext uri="{96DAC541-7B7A-43D3-8B79-37D633B846F1}">
                <asvg:svgBlip xmlns="" xmlns:asvg="http://schemas.microsoft.com/office/drawing/2016/SVG/main" r:embed="rId9"/>
              </a:ext>
            </a:extLst>
          </a:blip>
          <a:srcRect/>
          <a:stretch>
            <a:fillRect/>
          </a:stretch>
        </p:blipFill>
        <p:spPr/>
      </p:pic>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GB" b="1" dirty="0"/>
              <a:t>Quick Search</a:t>
            </a:r>
          </a:p>
          <a:p>
            <a:r>
              <a:rPr lang="en-GB" dirty="0"/>
              <a:t>Provides fast product lookup by ID.</a:t>
            </a:r>
          </a:p>
        </p:txBody>
      </p:sp>
      <p:pic>
        <p:nvPicPr>
          <p:cNvPr id="33" name="Picture Placeholder 32" descr="Head with Gears">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0">
            <a:extLst>
              <a:ext uri="{28A0092B-C50C-407E-A947-70E740481C1C}">
                <a14:useLocalDpi xmlns:a14="http://schemas.microsoft.com/office/drawing/2010/main"/>
              </a:ext>
              <a:ext uri="{96DAC541-7B7A-43D3-8B79-37D633B846F1}">
                <asvg:svgBlip xmlns="" xmlns:asvg="http://schemas.microsoft.com/office/drawing/2016/SVG/main" r:embed="rId11"/>
              </a:ext>
            </a:extLst>
          </a:blip>
          <a:srcRect t="63" b="63"/>
          <a:stretch>
            <a:fillRect/>
          </a:stretch>
        </p:blipFill>
        <p:spPr/>
      </p:pic>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a:lstStyle/>
          <a:p>
            <a:r>
              <a:rPr lang="en-GB" b="1" dirty="0"/>
              <a:t>Smart Management</a:t>
            </a:r>
          </a:p>
          <a:p>
            <a:r>
              <a:rPr lang="en-GB" dirty="0"/>
              <a:t>Supports better business decision-making.</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GB" dirty="0"/>
              <a:t>Technologies Used</a:t>
            </a:r>
            <a:endParaRPr lang="en-US" dirty="0"/>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GB" dirty="0"/>
              <a:t>Project Structure</a:t>
            </a:r>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GB" b="1" dirty="0"/>
              <a:t>C++</a:t>
            </a:r>
            <a:r>
              <a:rPr lang="en-GB" dirty="0"/>
              <a:t> – Main programming language used for project development. </a:t>
            </a:r>
          </a:p>
          <a:p>
            <a:r>
              <a:rPr lang="en-GB" b="1" dirty="0"/>
              <a:t>OOP</a:t>
            </a:r>
            <a:r>
              <a:rPr lang="en-GB" dirty="0"/>
              <a:t> – Organizes code using classes and objects. </a:t>
            </a:r>
          </a:p>
          <a:p>
            <a:r>
              <a:rPr lang="en-GB" b="1" dirty="0"/>
              <a:t>Vector Library</a:t>
            </a:r>
            <a:r>
              <a:rPr lang="en-GB" dirty="0"/>
              <a:t> – Stores products dynamically in memory. </a:t>
            </a:r>
          </a:p>
          <a:p>
            <a:r>
              <a:rPr lang="en-GB" b="1" dirty="0"/>
              <a:t>Algorithm Library</a:t>
            </a:r>
            <a:r>
              <a:rPr lang="en-GB" dirty="0"/>
              <a:t> – Provides built-in sorting functions. </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GB" b="1" dirty="0"/>
              <a:t>Product Class</a:t>
            </a:r>
            <a:r>
              <a:rPr lang="en-GB" dirty="0"/>
              <a:t> – Represents each individual product object. </a:t>
            </a:r>
          </a:p>
          <a:p>
            <a:r>
              <a:rPr lang="en-GB" b="1" dirty="0" err="1"/>
              <a:t>InventoryManager</a:t>
            </a:r>
            <a:r>
              <a:rPr lang="en-GB" b="1" dirty="0"/>
              <a:t> Class</a:t>
            </a:r>
            <a:r>
              <a:rPr lang="en-GB" dirty="0"/>
              <a:t> – Handles all inventory operations. </a:t>
            </a:r>
          </a:p>
          <a:p>
            <a:r>
              <a:rPr lang="en-GB" b="1" dirty="0"/>
              <a:t>Main Function</a:t>
            </a:r>
            <a:r>
              <a:rPr lang="en-GB" dirty="0"/>
              <a:t> – Starts execution of the entire program. </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GB" dirty="0"/>
              <a:t>Product Class</a:t>
            </a:r>
            <a:endParaRPr lang="en-US" dirty="0"/>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GB" dirty="0"/>
              <a:t>Constructors</a:t>
            </a:r>
            <a:endParaRPr lang="en-US" dirty="0"/>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GB" b="1" dirty="0"/>
              <a:t>Product ID – Unique identifier assigned to each product.</a:t>
            </a:r>
          </a:p>
          <a:p>
            <a:r>
              <a:rPr lang="en-GB" b="1" dirty="0"/>
              <a:t>Product Name – Stores name of the inventory item.</a:t>
            </a:r>
          </a:p>
          <a:p>
            <a:r>
              <a:rPr lang="en-GB" b="1" dirty="0"/>
              <a:t>Quantity – Maintains available stock amount.</a:t>
            </a:r>
          </a:p>
          <a:p>
            <a:r>
              <a:rPr lang="en-GB" b="1" dirty="0"/>
              <a:t>Unit Price – Stores price of one product unit.</a:t>
            </a:r>
            <a:endParaRPr lang="en-GB" dirty="0"/>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GB" b="1" dirty="0"/>
              <a:t>Default Constructor – Initializes empty product values initially.</a:t>
            </a:r>
          </a:p>
          <a:p>
            <a:r>
              <a:rPr lang="en-GB" b="1" dirty="0"/>
              <a:t>Parameterized Constructor – Creates object with user-provided values.</a:t>
            </a:r>
            <a:endParaRPr lang="en-GB" dirty="0"/>
          </a:p>
        </p:txBody>
      </p:sp>
    </p:spTree>
    <p:extLst>
      <p:ext uri="{BB962C8B-B14F-4D97-AF65-F5344CB8AC3E}">
        <p14:creationId xmlns:p14="http://schemas.microsoft.com/office/powerpoint/2010/main" val="375021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GB" dirty="0"/>
              <a:t>Getter Functions</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GB" dirty="0"/>
              <a:t>Setter Function</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GB" b="1" dirty="0" err="1" smtClean="0"/>
              <a:t>getId</a:t>
            </a:r>
            <a:r>
              <a:rPr lang="en-GB" b="1" dirty="0"/>
              <a:t>()</a:t>
            </a:r>
            <a:r>
              <a:rPr lang="en-GB" dirty="0"/>
              <a:t> – Returns product ID safely. </a:t>
            </a:r>
          </a:p>
          <a:p>
            <a:r>
              <a:rPr lang="en-GB" b="1" dirty="0" err="1"/>
              <a:t>getName</a:t>
            </a:r>
            <a:r>
              <a:rPr lang="en-GB" b="1" dirty="0"/>
              <a:t>()</a:t>
            </a:r>
            <a:r>
              <a:rPr lang="en-GB" dirty="0"/>
              <a:t> – Returns product name when required. </a:t>
            </a:r>
          </a:p>
          <a:p>
            <a:r>
              <a:rPr lang="en-GB" b="1" dirty="0" err="1"/>
              <a:t>getQuantity</a:t>
            </a:r>
            <a:r>
              <a:rPr lang="en-GB" b="1" dirty="0"/>
              <a:t>()</a:t>
            </a:r>
            <a:r>
              <a:rPr lang="en-GB" dirty="0"/>
              <a:t> – Provides available stock amount. </a:t>
            </a:r>
          </a:p>
          <a:p>
            <a:r>
              <a:rPr lang="en-GB" b="1" dirty="0" err="1"/>
              <a:t>getPrice</a:t>
            </a:r>
            <a:r>
              <a:rPr lang="en-GB" b="1" dirty="0"/>
              <a:t>()</a:t>
            </a:r>
            <a:r>
              <a:rPr lang="en-GB" dirty="0"/>
              <a:t> – Returns unit price value.</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GB" b="1" dirty="0" err="1" smtClean="0"/>
              <a:t>setQuantity</a:t>
            </a:r>
            <a:r>
              <a:rPr lang="en-GB" b="1" dirty="0"/>
              <a:t>()</a:t>
            </a:r>
            <a:r>
              <a:rPr lang="en-GB" dirty="0"/>
              <a:t> – Updates stock quantity securely.</a:t>
            </a:r>
          </a:p>
        </p:txBody>
      </p:sp>
    </p:spTree>
    <p:extLst>
      <p:ext uri="{BB962C8B-B14F-4D97-AF65-F5344CB8AC3E}">
        <p14:creationId xmlns:p14="http://schemas.microsoft.com/office/powerpoint/2010/main" val="1460738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GB" dirty="0" err="1"/>
              <a:t>InventoryManager</a:t>
            </a:r>
            <a:r>
              <a:rPr lang="en-GB" dirty="0"/>
              <a:t> Class</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GB" dirty="0"/>
              <a:t>Add Product</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GB" b="1" dirty="0" smtClean="0"/>
              <a:t>vector&lt;Product</a:t>
            </a:r>
            <a:r>
              <a:rPr lang="en-GB" b="1" dirty="0"/>
              <a:t>&gt;</a:t>
            </a:r>
            <a:r>
              <a:rPr lang="en-GB" dirty="0"/>
              <a:t> – Stores all product objects dynamically. </a:t>
            </a:r>
          </a:p>
          <a:p>
            <a:r>
              <a:rPr lang="en-GB" b="1" dirty="0"/>
              <a:t>Operations Control</a:t>
            </a:r>
            <a:r>
              <a:rPr lang="en-GB" dirty="0"/>
              <a:t> – Manages system functionalities centrally.</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GB" b="1" dirty="0" smtClean="0"/>
              <a:t>Validation </a:t>
            </a:r>
            <a:r>
              <a:rPr lang="en-GB" b="1" dirty="0"/>
              <a:t>Check</a:t>
            </a:r>
            <a:r>
              <a:rPr lang="en-GB" dirty="0"/>
              <a:t> – Prevents duplicate product IDs. </a:t>
            </a:r>
          </a:p>
          <a:p>
            <a:r>
              <a:rPr lang="en-GB" b="1" dirty="0"/>
              <a:t>User Input</a:t>
            </a:r>
            <a:r>
              <a:rPr lang="en-GB" dirty="0"/>
              <a:t> – Takes product details from user. </a:t>
            </a:r>
          </a:p>
          <a:p>
            <a:r>
              <a:rPr lang="en-GB" b="1" dirty="0"/>
              <a:t>Insertion</a:t>
            </a:r>
            <a:r>
              <a:rPr lang="en-GB" dirty="0"/>
              <a:t> – Adds product into vector.</a:t>
            </a:r>
          </a:p>
        </p:txBody>
      </p:sp>
    </p:spTree>
    <p:extLst>
      <p:ext uri="{BB962C8B-B14F-4D97-AF65-F5344CB8AC3E}">
        <p14:creationId xmlns:p14="http://schemas.microsoft.com/office/powerpoint/2010/main" val="812207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GB" dirty="0"/>
              <a:t>Search Product</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GB" dirty="0"/>
              <a:t>Update Product</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GB" b="1" dirty="0" smtClean="0"/>
              <a:t>ID </a:t>
            </a:r>
            <a:r>
              <a:rPr lang="en-GB" b="1" dirty="0"/>
              <a:t>Search</a:t>
            </a:r>
            <a:r>
              <a:rPr lang="en-GB" dirty="0"/>
              <a:t> – Finds product using unique ID. </a:t>
            </a:r>
          </a:p>
          <a:p>
            <a:r>
              <a:rPr lang="en-GB" b="1" dirty="0"/>
              <a:t>Quick Access</a:t>
            </a:r>
            <a:r>
              <a:rPr lang="en-GB" dirty="0"/>
              <a:t> – Reduces time in locating items.</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GB" b="1" dirty="0" smtClean="0"/>
              <a:t>Stock </a:t>
            </a:r>
            <a:r>
              <a:rPr lang="en-GB" b="1" dirty="0"/>
              <a:t>Modification</a:t>
            </a:r>
            <a:r>
              <a:rPr lang="en-GB" dirty="0"/>
              <a:t> – Changes quantity after restocking. </a:t>
            </a:r>
          </a:p>
          <a:p>
            <a:r>
              <a:rPr lang="en-GB" b="1" dirty="0"/>
              <a:t>Inventory Accuracy</a:t>
            </a:r>
            <a:r>
              <a:rPr lang="en-GB" dirty="0"/>
              <a:t> – Keeps stock values updated.</a:t>
            </a:r>
          </a:p>
        </p:txBody>
      </p:sp>
    </p:spTree>
    <p:extLst>
      <p:ext uri="{BB962C8B-B14F-4D97-AF65-F5344CB8AC3E}">
        <p14:creationId xmlns:p14="http://schemas.microsoft.com/office/powerpoint/2010/main" val="1275937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GB" dirty="0"/>
              <a:t>Delete Product</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GB" dirty="0"/>
              <a:t>Sorting Functions</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GB" b="1" dirty="0" smtClean="0"/>
              <a:t>Remove </a:t>
            </a:r>
            <a:r>
              <a:rPr lang="en-GB" b="1" dirty="0"/>
              <a:t>Item</a:t>
            </a:r>
            <a:r>
              <a:rPr lang="en-GB" dirty="0"/>
              <a:t> – Deletes unwanted product records. </a:t>
            </a:r>
          </a:p>
          <a:p>
            <a:r>
              <a:rPr lang="en-GB" b="1" dirty="0"/>
              <a:t>Memory Management</a:t>
            </a:r>
            <a:r>
              <a:rPr lang="en-GB" dirty="0"/>
              <a:t> – Frees vector space.</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GB" b="1" dirty="0" err="1" smtClean="0"/>
              <a:t>sortByName</a:t>
            </a:r>
            <a:r>
              <a:rPr lang="en-GB" b="1" dirty="0"/>
              <a:t>()</a:t>
            </a:r>
            <a:r>
              <a:rPr lang="en-GB" dirty="0"/>
              <a:t> – Sorts products alphabetically. </a:t>
            </a:r>
          </a:p>
          <a:p>
            <a:r>
              <a:rPr lang="en-GB" b="1" dirty="0" err="1"/>
              <a:t>sortByPrice</a:t>
            </a:r>
            <a:r>
              <a:rPr lang="en-GB" b="1" dirty="0"/>
              <a:t>()</a:t>
            </a:r>
            <a:r>
              <a:rPr lang="en-GB" dirty="0"/>
              <a:t> – Sorts products by ascending price.</a:t>
            </a:r>
          </a:p>
        </p:txBody>
      </p:sp>
    </p:spTree>
    <p:extLst>
      <p:ext uri="{BB962C8B-B14F-4D97-AF65-F5344CB8AC3E}">
        <p14:creationId xmlns:p14="http://schemas.microsoft.com/office/powerpoint/2010/main" val="1681042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GB" dirty="0"/>
              <a:t>Total Inventory Value</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GB" dirty="0"/>
              <a:t>Menu System</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GB" b="1" dirty="0" err="1" smtClean="0"/>
              <a:t>calculateTotalInventoryValue</a:t>
            </a:r>
            <a:r>
              <a:rPr lang="en-GB" b="1" dirty="0"/>
              <a:t>()</a:t>
            </a:r>
            <a:r>
              <a:rPr lang="en-GB" dirty="0"/>
              <a:t> – Computes sum of all products. </a:t>
            </a:r>
          </a:p>
          <a:p>
            <a:r>
              <a:rPr lang="en-GB" b="1" dirty="0"/>
              <a:t>Business Insight</a:t>
            </a:r>
            <a:r>
              <a:rPr lang="en-GB" dirty="0"/>
              <a:t> – Shows complete stock worth.</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GB" b="1" dirty="0" smtClean="0"/>
              <a:t>User </a:t>
            </a:r>
            <a:r>
              <a:rPr lang="en-GB" b="1" dirty="0"/>
              <a:t>Interface</a:t>
            </a:r>
            <a:r>
              <a:rPr lang="en-GB" dirty="0"/>
              <a:t> – Displays all available operations. </a:t>
            </a:r>
          </a:p>
          <a:p>
            <a:r>
              <a:rPr lang="en-GB" b="1" dirty="0"/>
              <a:t>Navigation</a:t>
            </a:r>
            <a:r>
              <a:rPr lang="en-GB" dirty="0"/>
              <a:t> – Helps user choose required action.</a:t>
            </a:r>
          </a:p>
        </p:txBody>
      </p:sp>
    </p:spTree>
    <p:extLst>
      <p:ext uri="{BB962C8B-B14F-4D97-AF65-F5344CB8AC3E}">
        <p14:creationId xmlns:p14="http://schemas.microsoft.com/office/powerpoint/2010/main" val="625469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GB" dirty="0"/>
              <a:t>run() Function</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p:txBody>
          <a:bodyPr/>
          <a:lstStyle/>
          <a:p>
            <a:r>
              <a:rPr lang="en-GB" dirty="0"/>
              <a:t>Main Function</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GB" b="1" dirty="0" smtClean="0"/>
              <a:t>do-while </a:t>
            </a:r>
            <a:r>
              <a:rPr lang="en-GB" b="1" dirty="0"/>
              <a:t>Loop</a:t>
            </a:r>
            <a:r>
              <a:rPr lang="en-GB" dirty="0"/>
              <a:t> – Keeps program running continuously. </a:t>
            </a:r>
          </a:p>
          <a:p>
            <a:r>
              <a:rPr lang="en-GB" b="1" dirty="0"/>
              <a:t>switch-case</a:t>
            </a:r>
            <a:r>
              <a:rPr lang="en-GB" dirty="0"/>
              <a:t> – Executes selected menu option.</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lstStyle/>
          <a:p>
            <a:r>
              <a:rPr lang="en-GB" b="1" dirty="0" smtClean="0"/>
              <a:t>Object </a:t>
            </a:r>
            <a:r>
              <a:rPr lang="en-GB" b="1" dirty="0"/>
              <a:t>Creation</a:t>
            </a:r>
            <a:r>
              <a:rPr lang="en-GB" dirty="0"/>
              <a:t> – Creates </a:t>
            </a:r>
            <a:r>
              <a:rPr lang="en-GB" dirty="0" err="1"/>
              <a:t>InventoryManager</a:t>
            </a:r>
            <a:r>
              <a:rPr lang="en-GB" dirty="0"/>
              <a:t> object. </a:t>
            </a:r>
          </a:p>
          <a:p>
            <a:r>
              <a:rPr lang="en-GB" b="1" dirty="0"/>
              <a:t>Program Start</a:t>
            </a:r>
            <a:r>
              <a:rPr lang="en-GB" dirty="0"/>
              <a:t> – Calls run() to launch system.</a:t>
            </a:r>
          </a:p>
        </p:txBody>
      </p:sp>
    </p:spTree>
    <p:extLst>
      <p:ext uri="{BB962C8B-B14F-4D97-AF65-F5344CB8AC3E}">
        <p14:creationId xmlns:p14="http://schemas.microsoft.com/office/powerpoint/2010/main" val="2729087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Proposed Work Flow</a:t>
            </a:r>
            <a:endParaRPr lang="en-GB" dirty="0"/>
          </a:p>
        </p:txBody>
      </p:sp>
      <p:sp>
        <p:nvSpPr>
          <p:cNvPr id="3" name="Slide Number Placeholder 2"/>
          <p:cNvSpPr>
            <a:spLocks noGrp="1"/>
          </p:cNvSpPr>
          <p:nvPr>
            <p:ph type="sldNum" sz="quarter" idx="12"/>
          </p:nvPr>
        </p:nvSpPr>
        <p:spPr/>
        <p:txBody>
          <a:bodyPr/>
          <a:lstStyle/>
          <a:p>
            <a:fld id="{C263D6C4-4840-40CC-AC84-17E24B3B7BDE}" type="slidenum">
              <a:rPr lang="en-US" noProof="0" smtClean="0"/>
              <a:pPr/>
              <a:t>14</a:t>
            </a:fld>
            <a:endParaRPr lang="en-US" noProof="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200" y="1526650"/>
            <a:ext cx="10287000" cy="5009322"/>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25493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GB" dirty="0" smtClean="0"/>
              <a:t>Conclusion</a:t>
            </a:r>
            <a:endParaRPr lang="en-GB" dirty="0"/>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GB" b="1" dirty="0" smtClean="0"/>
              <a:t>Successful Automation</a:t>
            </a:r>
            <a:r>
              <a:rPr lang="en-GB" dirty="0" smtClean="0"/>
              <a:t>: The system successfully automates inventory operations and reduces manual work. </a:t>
            </a:r>
          </a:p>
          <a:p>
            <a:r>
              <a:rPr lang="en-GB" b="1" dirty="0" smtClean="0"/>
              <a:t>Efficient </a:t>
            </a:r>
            <a:r>
              <a:rPr lang="en-GB" b="1" dirty="0"/>
              <a:t>Product </a:t>
            </a:r>
            <a:r>
              <a:rPr lang="en-GB" b="1" dirty="0" smtClean="0"/>
              <a:t>Management</a:t>
            </a:r>
            <a:r>
              <a:rPr lang="en-GB" dirty="0" smtClean="0"/>
              <a:t>: Users </a:t>
            </a:r>
            <a:r>
              <a:rPr lang="en-GB" dirty="0"/>
              <a:t>can easily add, search, update, delete, and sort products. </a:t>
            </a:r>
          </a:p>
          <a:p>
            <a:r>
              <a:rPr lang="en-GB" b="1" dirty="0"/>
              <a:t>Error </a:t>
            </a:r>
            <a:r>
              <a:rPr lang="en-GB" b="1" dirty="0" smtClean="0"/>
              <a:t>Reduction</a:t>
            </a:r>
            <a:r>
              <a:rPr lang="en-GB" dirty="0" smtClean="0"/>
              <a:t>: </a:t>
            </a:r>
            <a:r>
              <a:rPr lang="en-GB" dirty="0"/>
              <a:t>Automated calculations help minimize human mistakes in stock management. </a:t>
            </a:r>
          </a:p>
          <a:p>
            <a:r>
              <a:rPr lang="en-GB" b="1" dirty="0"/>
              <a:t>OOP </a:t>
            </a:r>
            <a:r>
              <a:rPr lang="en-GB" b="1" dirty="0" smtClean="0"/>
              <a:t>Implementation:</a:t>
            </a:r>
            <a:r>
              <a:rPr lang="en-GB" dirty="0" smtClean="0"/>
              <a:t> The </a:t>
            </a:r>
            <a:r>
              <a:rPr lang="en-GB" dirty="0"/>
              <a:t>project demonstrates practical use of classes, </a:t>
            </a:r>
            <a:r>
              <a:rPr lang="en-GB" dirty="0" smtClean="0"/>
              <a:t>objects</a:t>
            </a:r>
            <a:r>
              <a:rPr lang="en-GB" dirty="0"/>
              <a:t> </a:t>
            </a:r>
            <a:r>
              <a:rPr lang="en-GB" dirty="0" smtClean="0"/>
              <a:t>and encapsulation </a:t>
            </a:r>
            <a:r>
              <a:rPr lang="en-GB" dirty="0"/>
              <a:t>in C++. </a:t>
            </a:r>
          </a:p>
          <a:p>
            <a:r>
              <a:rPr lang="en-GB" b="1" dirty="0"/>
              <a:t>User-Friendly </a:t>
            </a:r>
            <a:r>
              <a:rPr lang="en-GB" b="1" dirty="0" smtClean="0"/>
              <a:t>Design</a:t>
            </a:r>
            <a:r>
              <a:rPr lang="en-GB" dirty="0" smtClean="0"/>
              <a:t>: </a:t>
            </a:r>
            <a:r>
              <a:rPr lang="en-GB" dirty="0"/>
              <a:t>Simple menu-based interface makes the system easy to operate. </a:t>
            </a:r>
          </a:p>
          <a:p>
            <a:r>
              <a:rPr lang="en-GB" b="1" dirty="0"/>
              <a:t>Scalable </a:t>
            </a:r>
            <a:r>
              <a:rPr lang="en-GB" b="1" dirty="0" smtClean="0"/>
              <a:t>Project</a:t>
            </a:r>
            <a:r>
              <a:rPr lang="en-GB" dirty="0" smtClean="0"/>
              <a:t>: </a:t>
            </a:r>
            <a:r>
              <a:rPr lang="en-GB" dirty="0"/>
              <a:t>The system can be enhanced further with database, GUI, and file handling features. </a:t>
            </a:r>
          </a:p>
          <a:p>
            <a:r>
              <a:rPr lang="en-GB" b="1" dirty="0"/>
              <a:t>Learning </a:t>
            </a:r>
            <a:r>
              <a:rPr lang="en-GB" b="1" dirty="0" smtClean="0"/>
              <a:t>Outcome</a:t>
            </a:r>
            <a:r>
              <a:rPr lang="en-GB" dirty="0" smtClean="0"/>
              <a:t>: </a:t>
            </a:r>
            <a:r>
              <a:rPr lang="en-GB" dirty="0"/>
              <a:t>This project improved understanding of C++ programming and real-world problem solving.</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15</a:t>
            </a:fld>
            <a:endParaRPr lang="en-US" dirty="0"/>
          </a:p>
        </p:txBody>
      </p:sp>
    </p:spTree>
    <p:extLst>
      <p:ext uri="{BB962C8B-B14F-4D97-AF65-F5344CB8AC3E}">
        <p14:creationId xmlns:p14="http://schemas.microsoft.com/office/powerpoint/2010/main" val="1597457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purl.org/dc/terms/"/>
    <ds:schemaRef ds:uri="http://schemas.microsoft.com/office/2006/documentManagement/types"/>
    <ds:schemaRef ds:uri="http://schemas.openxmlformats.org/package/2006/metadata/core-properties"/>
    <ds:schemaRef ds:uri="http://purl.org/dc/elements/1.1/"/>
    <ds:schemaRef ds:uri="http://purl.org/dc/dcmitype/"/>
    <ds:schemaRef ds:uri="http://schemas.microsoft.com/office/infopath/2007/PartnerControls"/>
    <ds:schemaRef ds:uri="16c05727-aa75-4e4a-9b5f-8a80a1165891"/>
    <ds:schemaRef ds:uri="71af3243-3dd4-4a8d-8c0d-dd76da1f02a5"/>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0</TotalTime>
  <Words>743</Words>
  <Application>Microsoft Office PowerPoint</Application>
  <PresentationFormat>Widescreen</PresentationFormat>
  <Paragraphs>106</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Tahoma</vt:lpstr>
      <vt:lpstr>Times New Roman</vt:lpstr>
      <vt:lpstr>Trade Gothic LT Pro</vt:lpstr>
      <vt:lpstr>Trebuchet MS</vt:lpstr>
      <vt:lpstr>Office Theme</vt:lpstr>
      <vt:lpstr>Inventory Management System</vt:lpstr>
      <vt:lpstr>Introduction</vt:lpstr>
      <vt:lpstr>Problem Statement</vt:lpstr>
      <vt:lpstr>Project Objectives</vt:lpstr>
      <vt:lpstr>System Capabilities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Proposed Work Flow</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2026-05-12T19:57:48Z</dcterms:created>
  <dcterms:modified xsi:type="dcterms:W3CDTF">2026-05-20T20:19:34Z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